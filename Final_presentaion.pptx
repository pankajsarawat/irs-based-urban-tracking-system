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CFE6-3EE2-1345-E073-4BADE6547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774DC-7817-C3C3-F2AE-67E463749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512C4-5E89-010A-9B1F-FDF1E606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86EA6-A64E-903F-9891-D9A400A2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BF29D-6781-5F9E-D6C3-A04E684E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5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CEF40-9D10-E6CC-8832-06A89ACD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D5980-C537-2A1F-82C7-947DA2F09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011DE-3297-940B-E64E-E3C157FD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82F1E-A2FC-2112-74D6-815B0B36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A6424-15AC-4C00-F85E-671577C0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2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F6C3-050D-3ADE-7D68-0DCF070D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54351-A298-888B-EE50-8D5F2E958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DD12D-48B8-E3A4-2575-4C40C26F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0F88C-5BB4-E8D6-DD33-02AECB21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E06FC-92D7-ED6C-368A-A07CF222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6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F275-1EFD-A344-8434-DCF359F7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368B-CEAE-3A63-F02D-49C44C248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91E89-35D5-6C3A-49C6-247529764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BBC05-E63B-0B11-6CB3-63CB3611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F71CF-572F-0FB8-8A54-CB5EB35B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6BBDB-A6BF-05E8-D67A-09F6EB6C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0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C887-F709-6EF7-4E1C-4F33B4AE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AADBC-3B38-3108-B935-D64A975DC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6CE9A-9F81-5143-D633-A8061322E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F5B70-CA10-7BB9-B38F-9E53CA8A2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34105-5C90-C7B2-EC6B-ECEFEB57D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72C336-B233-5ECF-3FB8-B45B1BDA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57411-6B65-F952-C284-18E8E0D3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D77A9-CD54-5A42-0FB3-01BDD8F4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0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AB14-A3E8-000F-9513-5FB930A9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04834-8FD2-ACCB-434B-5CE782C9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93884-0228-86C6-0B39-2DA8BB8A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68CD7-0953-4298-4104-25972817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1FED3-9AAB-6808-9AC5-515B440F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20538-F6BD-29D1-0A63-AFCC716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BDEE3-4F5C-4F93-613B-D4B79F06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40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23DF-23BF-6B59-3BCD-93BE0413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7A3CA-0EC8-9F5B-F04F-7A76F2CB1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5A58E-511E-10E8-DC8E-92541A20D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1F505-1A98-5D50-6164-B47101B1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54260-85B6-36D8-D695-6C5501AC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6895C-FD97-65AB-A63C-18C3C325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6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0565-CB6B-B9DF-F6E7-B66C40A1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080762-3157-F8AA-F9C4-517B23868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8BB46-95CD-2222-0738-F4457DFCD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A0D77-95F3-47F7-2E9F-6769BBB6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B709A-DADD-06D2-A862-9E8E67EF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185E3-9D48-4589-D2F0-D877DE87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6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703A-EDE1-24D5-00E5-C13288E59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F1650-4610-4049-F5FD-409C86B17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9E7A0-11B5-7E23-93B3-4DA6B0A6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0EB05-4604-91DA-61E7-AB8177CE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F63EB-87D6-916A-34DE-35A5584F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72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140AFD-5E10-7CF8-7D43-6950F111D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48392-8835-837E-9041-0A68B5267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00B7C-949F-0E60-9BC0-FFBB1617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A8E14-ED4F-F464-2305-4C0E0043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7F387-9C76-8420-36D0-E3AE9504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4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DD6F1B-D839-8D98-16B6-1825DBE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E0159-68F7-640D-606A-18FE58C41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42781-3FD2-2510-4DE5-DDB8A98B0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46EC6-1ACE-4E61-9064-1F4CB40552D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F03C6-5428-887D-3534-CA0C50964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E6DE7-23F9-9EA5-F8F1-5EFC67512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75574-0E19-48F4-AF9A-345CF8FB0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4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592AF85-15B7-7C6A-D36D-3120B1BC4012}"/>
              </a:ext>
            </a:extLst>
          </p:cNvPr>
          <p:cNvSpPr>
            <a:spLocks noGrp="1"/>
          </p:cNvSpPr>
          <p:nvPr/>
        </p:nvSpPr>
        <p:spPr>
          <a:xfrm>
            <a:off x="1178612" y="2535682"/>
            <a:ext cx="9985479" cy="10202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Mobility-Aware Intelligent Reflecting Surface Assisted Wireless Communication Framework for Dynamic Urban Environments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9A88833-36A5-4F8B-8DB5-905A5BE8C320}"/>
              </a:ext>
            </a:extLst>
          </p:cNvPr>
          <p:cNvSpPr>
            <a:spLocks noGrp="1"/>
          </p:cNvSpPr>
          <p:nvPr/>
        </p:nvSpPr>
        <p:spPr>
          <a:xfrm>
            <a:off x="1903737" y="3555935"/>
            <a:ext cx="7689657" cy="30705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Jitendra Dubey </a:t>
            </a:r>
            <a:b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b22ec038</a:t>
            </a: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Pankaj Saraswat</a:t>
            </a:r>
            <a:b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b22ec040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SATYENDRA SINGH YADAV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sistant Professor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   </a:t>
            </a:r>
          </a:p>
          <a:p>
            <a:pPr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 19-05-2026</a:t>
            </a:r>
          </a:p>
          <a:p>
            <a:pPr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>
              <a:buNone/>
            </a:pPr>
            <a:endParaRPr lang="en-IN" sz="9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9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9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9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9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9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  <a:endParaRPr lang="en-IN" sz="105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A1AAE8-1EA9-85BB-F2DA-C192D5262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260" y="110274"/>
            <a:ext cx="2234184" cy="193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5166DC81-3E4E-3465-C4D0-F0C694310270}"/>
              </a:ext>
            </a:extLst>
          </p:cNvPr>
          <p:cNvSpPr txBox="1"/>
          <p:nvPr/>
        </p:nvSpPr>
        <p:spPr>
          <a:xfrm>
            <a:off x="1446952" y="2186010"/>
            <a:ext cx="8603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National Institute of Technology Meghalaya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321C85-86C2-0029-6F8D-46A689EC29AE}"/>
              </a:ext>
            </a:extLst>
          </p:cNvPr>
          <p:cNvSpPr txBox="1"/>
          <p:nvPr/>
        </p:nvSpPr>
        <p:spPr>
          <a:xfrm>
            <a:off x="11266819" y="2051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446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38DEFE-84B3-7614-5D1F-E42FF24A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3" y="634827"/>
            <a:ext cx="6371303" cy="47240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Motivation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0C1C8-B5D5-3C91-32D8-F46A6502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885" y="1071259"/>
            <a:ext cx="6194322" cy="4071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10131D-E5D3-7853-60A5-03D516D2C7E2}"/>
              </a:ext>
            </a:extLst>
          </p:cNvPr>
          <p:cNvSpPr txBox="1"/>
          <p:nvPr/>
        </p:nvSpPr>
        <p:spPr>
          <a:xfrm>
            <a:off x="6164826" y="51914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IRS-Assisted Wireless Communication Architecture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D5BF5-FD92-99E1-A649-2CB4BEB60ACB}"/>
              </a:ext>
            </a:extLst>
          </p:cNvPr>
          <p:cNvSpPr txBox="1"/>
          <p:nvPr/>
        </p:nvSpPr>
        <p:spPr>
          <a:xfrm>
            <a:off x="363793" y="1367796"/>
            <a:ext cx="573220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6G systems require: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High data rates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Ultra-low latency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Smart wireless environments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communication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blockage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Multipath fading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NLOS propagation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IRS enables: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Intelligent beam steering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Adaptive signal reflection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Energy-efficient communication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Improve communication reliability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Support mobility-aware smart city communication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D14D271F-46CB-E735-91AF-D88B0BE3D516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3229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F1BD5A-2E7F-625B-D52E-D72DF94A2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09" y="864325"/>
            <a:ext cx="3205316" cy="6301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D7368-EFBE-ABC5-68F0-A51E2D4CB286}"/>
              </a:ext>
            </a:extLst>
          </p:cNvPr>
          <p:cNvSpPr txBox="1"/>
          <p:nvPr/>
        </p:nvSpPr>
        <p:spPr>
          <a:xfrm>
            <a:off x="521109" y="1651820"/>
            <a:ext cx="535858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Develop IRS-assisted communication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Implement mobility-aware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Model obstacle-aware propagation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Apply adaptive beam steering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steering policies Analyze: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SNR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Throughput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Outage probability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DRL-compatible environment</a:t>
            </a:r>
          </a:p>
        </p:txBody>
      </p:sp>
      <p:pic>
        <p:nvPicPr>
          <p:cNvPr id="6" name="Picture 5" descr="AI generated image">
            <a:extLst>
              <a:ext uri="{FF2B5EF4-FFF2-40B4-BE49-F238E27FC236}">
                <a16:creationId xmlns:a16="http://schemas.microsoft.com/office/drawing/2014/main" id="{F58808A8-FCC6-50B1-1216-117FE31B50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26" t="11559" r="16387"/>
          <a:stretch>
            <a:fillRect/>
          </a:stretch>
        </p:blipFill>
        <p:spPr>
          <a:xfrm>
            <a:off x="6941574" y="1394900"/>
            <a:ext cx="3795252" cy="4068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6C6FD7-6397-2E8E-7A5A-B2961B263EF2}"/>
              </a:ext>
            </a:extLst>
          </p:cNvPr>
          <p:cNvSpPr txBox="1"/>
          <p:nvPr/>
        </p:nvSpPr>
        <p:spPr>
          <a:xfrm>
            <a:off x="6621124" y="5463099"/>
            <a:ext cx="475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: IRS Assisted communication Flow Diagram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C8BCD43-72D6-7586-E014-3E9D49D621E4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296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B45DFE-4FBF-BBAF-8CB3-0970B8B1D31F}"/>
              </a:ext>
            </a:extLst>
          </p:cNvPr>
          <p:cNvSpPr txBox="1"/>
          <p:nvPr/>
        </p:nvSpPr>
        <p:spPr>
          <a:xfrm>
            <a:off x="1032388" y="7985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CA84D4-0B36-A948-6E7B-A697D3F90D61}"/>
                  </a:ext>
                </a:extLst>
              </p:cNvPr>
              <p:cNvSpPr txBox="1"/>
              <p:nvPr/>
            </p:nvSpPr>
            <p:spPr>
              <a:xfrm>
                <a:off x="1032388" y="1649509"/>
                <a:ext cx="5860025" cy="3721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Components: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Base Station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IRS Panels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Mobile Users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Urban Obstacles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Road Network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Features: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Multi-user communication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Rician fading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LOS/NLOS propagation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Adaptive IRS reflection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Equation: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l-GR" i="0">
                          <a:latin typeface="Cambria Math" panose="02040503050406030204" pitchFamily="18" charset="0"/>
                        </a:rPr>
                        <m:t>Φ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CA84D4-0B36-A948-6E7B-A697D3F90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88" y="1649509"/>
                <a:ext cx="5860025" cy="3721212"/>
              </a:xfrm>
              <a:prstGeom prst="rect">
                <a:avLst/>
              </a:prstGeom>
              <a:blipFill>
                <a:blip r:embed="rId2"/>
                <a:stretch>
                  <a:fillRect l="-624" t="-984" b="-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CCFD135-1D8E-D582-36CF-CED2FA82E735}"/>
              </a:ext>
            </a:extLst>
          </p:cNvPr>
          <p:cNvSpPr txBox="1"/>
          <p:nvPr/>
        </p:nvSpPr>
        <p:spPr>
          <a:xfrm>
            <a:off x="7541342" y="5370721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: IRS element arrangement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EECB61D-AFC9-A816-C2B4-D16E4F2780A5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77B11F-75DA-29AA-8B53-75A4E5AD0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074" y="1418453"/>
            <a:ext cx="5816498" cy="37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9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F7B612-B891-F81E-448A-44E988E5522F}"/>
              </a:ext>
            </a:extLst>
          </p:cNvPr>
          <p:cNvSpPr txBox="1"/>
          <p:nvPr/>
        </p:nvSpPr>
        <p:spPr>
          <a:xfrm>
            <a:off x="993057" y="9632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IRS Beam Steering and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509EE9-15D5-4EAE-893C-FAA578534BC6}"/>
                  </a:ext>
                </a:extLst>
              </p:cNvPr>
              <p:cNvSpPr txBox="1"/>
              <p:nvPr/>
            </p:nvSpPr>
            <p:spPr>
              <a:xfrm>
                <a:off x="993057" y="1586495"/>
                <a:ext cx="609600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Steering Policies: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Steering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User-Specific Steering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Cooperative Sum-Steering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Oracle Beamforming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Equation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Advantages: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Improved SNR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Reduced outage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Adaptive beamforming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509EE9-15D5-4EAE-893C-FAA578534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57" y="1586495"/>
                <a:ext cx="6096000" cy="3139321"/>
              </a:xfrm>
              <a:prstGeom prst="rect">
                <a:avLst/>
              </a:prstGeom>
              <a:blipFill>
                <a:blip r:embed="rId2"/>
                <a:stretch>
                  <a:fillRect l="-700" t="-971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D9E2A5B-817B-B469-BF89-6545D9489C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" t="3392" b="3323"/>
          <a:stretch>
            <a:fillRect/>
          </a:stretch>
        </p:blipFill>
        <p:spPr>
          <a:xfrm>
            <a:off x="6341802" y="472089"/>
            <a:ext cx="4758812" cy="2890544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6D9CB1C5-9BDE-595A-F55E-55D65D1E340A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5F3F7-BE09-F168-891D-9919C1B11A8C}"/>
              </a:ext>
            </a:extLst>
          </p:cNvPr>
          <p:cNvSpPr txBox="1"/>
          <p:nvPr/>
        </p:nvSpPr>
        <p:spPr>
          <a:xfrm>
            <a:off x="6849759" y="6213595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Oracle SNR distribution per User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DBDDB9-578B-0D84-45E7-49180939B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37" y="3816270"/>
            <a:ext cx="4758812" cy="23714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08D5B4-BD99-749F-D941-6670FC88585B}"/>
              </a:ext>
            </a:extLst>
          </p:cNvPr>
          <p:cNvSpPr txBox="1"/>
          <p:nvPr/>
        </p:nvSpPr>
        <p:spPr>
          <a:xfrm>
            <a:off x="6473277" y="3362633"/>
            <a:ext cx="4515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Mean SNR vs Time for Different Policies</a:t>
            </a:r>
          </a:p>
        </p:txBody>
      </p:sp>
    </p:spTree>
    <p:extLst>
      <p:ext uri="{BB962C8B-B14F-4D97-AF65-F5344CB8AC3E}">
        <p14:creationId xmlns:p14="http://schemas.microsoft.com/office/powerpoint/2010/main" val="135423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BD6A3E6F-9D0C-E21D-118A-9023FFDA6135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99881-8279-4683-4E06-FA277AFA73AA}"/>
              </a:ext>
            </a:extLst>
          </p:cNvPr>
          <p:cNvSpPr txBox="1"/>
          <p:nvPr/>
        </p:nvSpPr>
        <p:spPr>
          <a:xfrm>
            <a:off x="737421" y="98187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Reinforcement Learning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839C46-E30B-E30A-6B96-92DD6864EA98}"/>
                  </a:ext>
                </a:extLst>
              </p:cNvPr>
              <p:cNvSpPr txBox="1"/>
              <p:nvPr/>
            </p:nvSpPr>
            <p:spPr>
              <a:xfrm>
                <a:off x="875071" y="1872839"/>
                <a:ext cx="6096000" cy="2350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DRL Components: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Space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Space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 Function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𝑁𝑅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𝑆𝑁𝑅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839C46-E30B-E30A-6B96-92DD6864E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1" y="1872839"/>
                <a:ext cx="6096000" cy="2350323"/>
              </a:xfrm>
              <a:prstGeom prst="rect">
                <a:avLst/>
              </a:prstGeom>
              <a:blipFill>
                <a:blip r:embed="rId2"/>
                <a:stretch>
                  <a:fillRect l="-700" t="-1295" b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3">
            <a:extLst>
              <a:ext uri="{FF2B5EF4-FFF2-40B4-BE49-F238E27FC236}">
                <a16:creationId xmlns:a16="http://schemas.microsoft.com/office/drawing/2014/main" id="{025DC906-C76B-3331-828D-4396C3CBD2D5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8CA4D7-7EA0-8D3C-195B-DFBBE175B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76" y="1850922"/>
            <a:ext cx="4689053" cy="31561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AD4211-3468-8517-2F98-17F779428886}"/>
              </a:ext>
            </a:extLst>
          </p:cNvPr>
          <p:cNvSpPr txBox="1"/>
          <p:nvPr/>
        </p:nvSpPr>
        <p:spPr>
          <a:xfrm>
            <a:off x="8190271" y="5007077"/>
            <a:ext cx="2324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: DRL Architecture</a:t>
            </a:r>
          </a:p>
        </p:txBody>
      </p:sp>
    </p:spTree>
    <p:extLst>
      <p:ext uri="{BB962C8B-B14F-4D97-AF65-F5344CB8AC3E}">
        <p14:creationId xmlns:p14="http://schemas.microsoft.com/office/powerpoint/2010/main" val="6845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EC0686-F766-0479-BFA8-0E1CF7E93AB4}"/>
              </a:ext>
            </a:extLst>
          </p:cNvPr>
          <p:cNvSpPr txBox="1"/>
          <p:nvPr/>
        </p:nvSpPr>
        <p:spPr>
          <a:xfrm>
            <a:off x="1120877" y="9755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IRS Beam Steering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90F68-2604-2B44-0F71-74C06E45AD36}"/>
              </a:ext>
            </a:extLst>
          </p:cNvPr>
          <p:cNvSpPr txBox="1"/>
          <p:nvPr/>
        </p:nvSpPr>
        <p:spPr>
          <a:xfrm>
            <a:off x="825910" y="214447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Compute direct channel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Compute IRS channels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Calculate optimal phase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Configure IRS reflection matrix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Compute effective channel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Calculate SNR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phase optimization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Mobility-aware updates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beam steering 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A3197-A349-382A-12E3-6D663AAFCB85}"/>
              </a:ext>
            </a:extLst>
          </p:cNvPr>
          <p:cNvSpPr txBox="1"/>
          <p:nvPr/>
        </p:nvSpPr>
        <p:spPr>
          <a:xfrm>
            <a:off x="825910" y="1775142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</a:t>
            </a:r>
          </a:p>
        </p:txBody>
      </p:sp>
      <p:pic>
        <p:nvPicPr>
          <p:cNvPr id="7" name="Picture 6" descr="AI generated image">
            <a:extLst>
              <a:ext uri="{FF2B5EF4-FFF2-40B4-BE49-F238E27FC236}">
                <a16:creationId xmlns:a16="http://schemas.microsoft.com/office/drawing/2014/main" id="{CA3914F1-925D-AD65-412E-28AE4F5CE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32" t="8799" r="30210"/>
          <a:stretch>
            <a:fillRect/>
          </a:stretch>
        </p:blipFill>
        <p:spPr>
          <a:xfrm>
            <a:off x="6754762" y="1154620"/>
            <a:ext cx="4129548" cy="4129175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A6E75537-3BE9-EC6D-397A-EA040EBCDB72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B82F2-3A17-F3AD-1662-A88ACDEB839E}"/>
              </a:ext>
            </a:extLst>
          </p:cNvPr>
          <p:cNvSpPr txBox="1"/>
          <p:nvPr/>
        </p:nvSpPr>
        <p:spPr>
          <a:xfrm>
            <a:off x="7334865" y="5334048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: IRS Beam Steering Flow Chart</a:t>
            </a:r>
          </a:p>
        </p:txBody>
      </p:sp>
    </p:spTree>
    <p:extLst>
      <p:ext uri="{BB962C8B-B14F-4D97-AF65-F5344CB8AC3E}">
        <p14:creationId xmlns:p14="http://schemas.microsoft.com/office/powerpoint/2010/main" val="200862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0C3A0CEF-4918-5D35-7807-D79A01F65D38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2" name="download (2)">
            <a:hlinkClick r:id="" action="ppaction://media"/>
            <a:extLst>
              <a:ext uri="{FF2B5EF4-FFF2-40B4-BE49-F238E27FC236}">
                <a16:creationId xmlns:a16="http://schemas.microsoft.com/office/drawing/2014/main" id="{0474988C-C2E4-9B9F-FFA9-22A6653D5D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764444"/>
            <a:ext cx="12192000" cy="6096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E3BD6F9-27A4-0AEB-5370-C517D6B6D6F7}"/>
              </a:ext>
            </a:extLst>
          </p:cNvPr>
          <p:cNvSpPr txBox="1">
            <a:spLocks/>
          </p:cNvSpPr>
          <p:nvPr/>
        </p:nvSpPr>
        <p:spPr>
          <a:xfrm>
            <a:off x="1017014" y="618516"/>
            <a:ext cx="3107619" cy="522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48073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0C3A0CEF-4918-5D35-7807-D79A01F65D38}"/>
              </a:ext>
            </a:extLst>
          </p:cNvPr>
          <p:cNvSpPr txBox="1"/>
          <p:nvPr/>
        </p:nvSpPr>
        <p:spPr>
          <a:xfrm>
            <a:off x="11266819" y="2051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9D8B6E-BE54-1193-B174-7351CF0A4476}"/>
              </a:ext>
            </a:extLst>
          </p:cNvPr>
          <p:cNvSpPr txBox="1">
            <a:spLocks/>
          </p:cNvSpPr>
          <p:nvPr/>
        </p:nvSpPr>
        <p:spPr>
          <a:xfrm>
            <a:off x="1017014" y="618517"/>
            <a:ext cx="3107619" cy="522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BD3706-E166-A078-D144-F0A4974B9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69" y="1152133"/>
            <a:ext cx="5760731" cy="57058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0E6543-10C8-D3AE-3CD8-3B0170CFC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13352"/>
            <a:ext cx="5884984" cy="438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3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67C298-DD8A-7DF5-DD92-9671CF05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8"/>
            <a:ext cx="4749606" cy="448284"/>
          </a:xfrm>
        </p:spPr>
        <p:txBody>
          <a:bodyPr>
            <a:normAutofit/>
          </a:bodyPr>
          <a:lstStyle/>
          <a:p>
            <a:r>
              <a:rPr lang="en-US" sz="2400" b="1" dirty="0"/>
              <a:t>Conclusion and 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1BA75-0D1B-FAFE-6416-79A9EA4B3AD1}"/>
              </a:ext>
            </a:extLst>
          </p:cNvPr>
          <p:cNvSpPr txBox="1"/>
          <p:nvPr/>
        </p:nvSpPr>
        <p:spPr>
          <a:xfrm>
            <a:off x="913776" y="1318480"/>
            <a:ext cx="103244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IRS improves communication reliability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Adaptive beam steering enhances SNR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Mobility-aware optimization improves coverage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DRL framework supports intelligent control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PPO/SAC optimization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FPGA implementation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UAV-assisted IRS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SDR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ISAC integration 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“IRS-assisted communication is a promising technology for future 6G smart wireless environments.”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1156415-6D91-F91F-1C5B-BDAE65F13471}"/>
              </a:ext>
            </a:extLst>
          </p:cNvPr>
          <p:cNvSpPr txBox="1"/>
          <p:nvPr/>
        </p:nvSpPr>
        <p:spPr>
          <a:xfrm>
            <a:off x="11266819" y="20516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39871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D92337-D882-B24D-126F-93A28F53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3" y="736505"/>
            <a:ext cx="1947411" cy="448284"/>
          </a:xfrm>
        </p:spPr>
        <p:txBody>
          <a:bodyPr>
            <a:normAutofit/>
          </a:bodyPr>
          <a:lstStyle/>
          <a:p>
            <a:r>
              <a:rPr lang="en-US" sz="2400" b="1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CE425-E305-96DD-F999-64B78EA9C78F}"/>
              </a:ext>
            </a:extLst>
          </p:cNvPr>
          <p:cNvSpPr txBox="1"/>
          <p:nvPr/>
        </p:nvSpPr>
        <p:spPr>
          <a:xfrm>
            <a:off x="511278" y="1184789"/>
            <a:ext cx="11552902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Q. Wu and R. Zhang, “Towards smart and reconfigurable environment: Intelligent reflecting surface aided wireless network,”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Communications Magazine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58, no. 1, pp. 106–112, 2020.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M. Di Renzo et al., “Smart radio environments empowered by reconfigurable intelligent surfaces,”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on Selected Areas in Communications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38, no. 11, pp. 2450–2525, 2020.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E. Basar et al., “Wireless communications through reconfigurable intelligent surfaces,”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pp. 116753–116773, 2019.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Gong et al., “Towards smart wireless communications via intelligent reflecting surfaces: A survey,”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Communications Surveys &amp; Tutorials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22, no. 4, pp. 2283–2314, 2020.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Z. Zhang et al., “Intelligent reflecting surface aided wireless communications: A tutorial,”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Communications Surveys &amp; Tutorials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1, pp. 5–47, 2021.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H. Huang et al., “Deep reinforcement learning for intelligent reflecting surface assisted wireless systems,”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Wireless Communications Letters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no. 2, pp. 243–247, 2021.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Y. Liu et al., “Reconfigurable intelligent surface aided multi-user communication,”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Communications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68, no. 10, pp. 6589–6605, 2020.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C. Pan et al., “Multicell MIMO communications relying on intelligent reflecting surfaces,”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Wireless Communications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19, no. 8, pp. 5218–5233, 2020.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THANK YOU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Any Queries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7BB2BAF-F7C2-7EB5-0CCA-078AB83C1F3F}"/>
              </a:ext>
            </a:extLst>
          </p:cNvPr>
          <p:cNvSpPr txBox="1"/>
          <p:nvPr/>
        </p:nvSpPr>
        <p:spPr>
          <a:xfrm>
            <a:off x="11266819" y="20516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2416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762</Words>
  <Application>Microsoft Office PowerPoint</Application>
  <PresentationFormat>Widescreen</PresentationFormat>
  <Paragraphs>131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Introduction and Motivation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and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Jitendra Dubey</dc:creator>
  <cp:lastModifiedBy>Pankaj sarawat</cp:lastModifiedBy>
  <cp:revision>5</cp:revision>
  <dcterms:created xsi:type="dcterms:W3CDTF">2026-05-18T10:44:02Z</dcterms:created>
  <dcterms:modified xsi:type="dcterms:W3CDTF">2026-05-19T05:40:21Z</dcterms:modified>
</cp:coreProperties>
</file>